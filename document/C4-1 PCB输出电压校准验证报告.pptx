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580" r:id="rId3"/>
    <p:sldId id="620" r:id="rId4"/>
    <p:sldId id="619" r:id="rId5"/>
    <p:sldId id="621" r:id="rId6"/>
    <p:sldId id="622" r:id="rId7"/>
    <p:sldId id="623" r:id="rId8"/>
    <p:sldId id="624" r:id="rId9"/>
    <p:sldId id="61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62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95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E:\KarlWork\C4-1\&#30005;&#21387;&#39564;&#35777;\&#27979;&#35797;&#25968;&#25454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E:\KarlWork\C4-1\&#30005;&#21387;&#39564;&#35777;\&#27979;&#35797;&#25968;&#25454;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E:\KarlWork\C4-1\&#30005;&#21387;&#39564;&#35777;\&#27979;&#35797;&#25968;&#25454;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E:\KarlWork\C4-1\&#30005;&#21387;&#39564;&#35777;\&#27979;&#35797;&#25968;&#25454;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E:\KarlWork\C4-1\&#30005;&#21387;&#39564;&#35777;\&#27979;&#35797;&#25968;&#25454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X+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xVal>
            <c:numRef>
              <c:f>[测试数据.xlsx]Sheet1!$A$3:$A$60</c:f>
              <c:numCache>
                <c:formatCode>General</c:formatCode>
                <c:ptCount val="5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</c:numCache>
            </c:numRef>
          </c:xVal>
          <c:yVal>
            <c:numRef>
              <c:f>[测试数据.xlsx]Sheet1!$B$3:$B$60</c:f>
              <c:numCache>
                <c:formatCode>General</c:formatCode>
                <c:ptCount val="58"/>
                <c:pt idx="0">
                  <c:v>0.012</c:v>
                </c:pt>
                <c:pt idx="1">
                  <c:v>0.006</c:v>
                </c:pt>
                <c:pt idx="2">
                  <c:v>0.004</c:v>
                </c:pt>
                <c:pt idx="3">
                  <c:v>0.013</c:v>
                </c:pt>
                <c:pt idx="4">
                  <c:v>0.013</c:v>
                </c:pt>
                <c:pt idx="5">
                  <c:v>0.008</c:v>
                </c:pt>
                <c:pt idx="6">
                  <c:v>0.01</c:v>
                </c:pt>
                <c:pt idx="7">
                  <c:v>0.02</c:v>
                </c:pt>
                <c:pt idx="8">
                  <c:v>0.02</c:v>
                </c:pt>
                <c:pt idx="9">
                  <c:v>0.02</c:v>
                </c:pt>
                <c:pt idx="10">
                  <c:v>0.02</c:v>
                </c:pt>
                <c:pt idx="11">
                  <c:v>0.03</c:v>
                </c:pt>
                <c:pt idx="12">
                  <c:v>0.03</c:v>
                </c:pt>
                <c:pt idx="13">
                  <c:v>0.03</c:v>
                </c:pt>
                <c:pt idx="14">
                  <c:v>0.02</c:v>
                </c:pt>
                <c:pt idx="15">
                  <c:v>0.04</c:v>
                </c:pt>
                <c:pt idx="16">
                  <c:v>0.03</c:v>
                </c:pt>
                <c:pt idx="17">
                  <c:v>0.03</c:v>
                </c:pt>
                <c:pt idx="18">
                  <c:v>0.02</c:v>
                </c:pt>
                <c:pt idx="19">
                  <c:v>0.03</c:v>
                </c:pt>
                <c:pt idx="20">
                  <c:v>0.03</c:v>
                </c:pt>
                <c:pt idx="21">
                  <c:v>0.03</c:v>
                </c:pt>
                <c:pt idx="22">
                  <c:v>0.02</c:v>
                </c:pt>
                <c:pt idx="23">
                  <c:v>0.04</c:v>
                </c:pt>
                <c:pt idx="24">
                  <c:v>0.03</c:v>
                </c:pt>
                <c:pt idx="25">
                  <c:v>0.04</c:v>
                </c:pt>
                <c:pt idx="26">
                  <c:v>0.03</c:v>
                </c:pt>
                <c:pt idx="27">
                  <c:v>0.03</c:v>
                </c:pt>
                <c:pt idx="28">
                  <c:v>0.02</c:v>
                </c:pt>
                <c:pt idx="29">
                  <c:v>0.03</c:v>
                </c:pt>
                <c:pt idx="30">
                  <c:v>0.03</c:v>
                </c:pt>
                <c:pt idx="31">
                  <c:v>0.03</c:v>
                </c:pt>
                <c:pt idx="32">
                  <c:v>0.02</c:v>
                </c:pt>
                <c:pt idx="33">
                  <c:v>0.04</c:v>
                </c:pt>
                <c:pt idx="34">
                  <c:v>0.03</c:v>
                </c:pt>
                <c:pt idx="35">
                  <c:v>0.03</c:v>
                </c:pt>
                <c:pt idx="36">
                  <c:v>0.04</c:v>
                </c:pt>
                <c:pt idx="37">
                  <c:v>0.03</c:v>
                </c:pt>
                <c:pt idx="38">
                  <c:v>0.03</c:v>
                </c:pt>
                <c:pt idx="39">
                  <c:v>0.04</c:v>
                </c:pt>
                <c:pt idx="40">
                  <c:v>0.03</c:v>
                </c:pt>
                <c:pt idx="41">
                  <c:v>0.03</c:v>
                </c:pt>
                <c:pt idx="42">
                  <c:v>0.03</c:v>
                </c:pt>
                <c:pt idx="43">
                  <c:v>0.03</c:v>
                </c:pt>
                <c:pt idx="44">
                  <c:v>0.03</c:v>
                </c:pt>
                <c:pt idx="45">
                  <c:v>0.03</c:v>
                </c:pt>
                <c:pt idx="46">
                  <c:v>0.02</c:v>
                </c:pt>
                <c:pt idx="47">
                  <c:v>0.03</c:v>
                </c:pt>
                <c:pt idx="48">
                  <c:v>0.03</c:v>
                </c:pt>
                <c:pt idx="49">
                  <c:v>0.03</c:v>
                </c:pt>
                <c:pt idx="50">
                  <c:v>0.02</c:v>
                </c:pt>
                <c:pt idx="51">
                  <c:v>0.04</c:v>
                </c:pt>
                <c:pt idx="52">
                  <c:v>0.04</c:v>
                </c:pt>
                <c:pt idx="53">
                  <c:v>0.05</c:v>
                </c:pt>
                <c:pt idx="54">
                  <c:v>0.04</c:v>
                </c:pt>
                <c:pt idx="55">
                  <c:v>0.05</c:v>
                </c:pt>
                <c:pt idx="56">
                  <c:v>0.04</c:v>
                </c:pt>
                <c:pt idx="57">
                  <c:v>0.04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9623667"/>
        <c:axId val="490766755"/>
      </c:scatterChart>
      <c:valAx>
        <c:axId val="4696236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电压</a:t>
                </a:r>
                <a:r>
                  <a:rPr lang="en-US" altLang="zh-CN"/>
                  <a:t>V</a:t>
                </a:r>
                <a:endParaRPr lang="en-US" altLang="zh-CN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0766755"/>
        <c:crosses val="autoZero"/>
        <c:crossBetween val="midCat"/>
      </c:valAx>
      <c:valAx>
        <c:axId val="4907667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误差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69623667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654f337-e6af-43d6-82cf-dcdaf3a414a3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X-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xVal>
            <c:numRef>
              <c:f>[测试数据.xlsx]Sheet1!$D$3:$D$60</c:f>
              <c:numCache>
                <c:formatCode>General</c:formatCode>
                <c:ptCount val="5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</c:numCache>
            </c:numRef>
          </c:xVal>
          <c:yVal>
            <c:numRef>
              <c:f>[测试数据.xlsx]Sheet1!$E$3:$E$60</c:f>
              <c:numCache>
                <c:formatCode>General</c:formatCode>
                <c:ptCount val="58"/>
                <c:pt idx="0">
                  <c:v>-0.002</c:v>
                </c:pt>
                <c:pt idx="1">
                  <c:v>-0.005</c:v>
                </c:pt>
                <c:pt idx="2">
                  <c:v>-0.011</c:v>
                </c:pt>
                <c:pt idx="3">
                  <c:v>0.001</c:v>
                </c:pt>
                <c:pt idx="4">
                  <c:v>-0.008</c:v>
                </c:pt>
                <c:pt idx="5">
                  <c:v>-0.02</c:v>
                </c:pt>
                <c:pt idx="6">
                  <c:v>-0.03</c:v>
                </c:pt>
                <c:pt idx="7">
                  <c:v>-0.02</c:v>
                </c:pt>
                <c:pt idx="8">
                  <c:v>-0.02</c:v>
                </c:pt>
                <c:pt idx="9">
                  <c:v>-0.02</c:v>
                </c:pt>
                <c:pt idx="10">
                  <c:v>-0.03</c:v>
                </c:pt>
                <c:pt idx="11">
                  <c:v>-0.02</c:v>
                </c:pt>
                <c:pt idx="12">
                  <c:v>-0.02</c:v>
                </c:pt>
                <c:pt idx="13">
                  <c:v>-0.03</c:v>
                </c:pt>
                <c:pt idx="14">
                  <c:v>-0.03</c:v>
                </c:pt>
                <c:pt idx="15">
                  <c:v>-0.02</c:v>
                </c:pt>
                <c:pt idx="16">
                  <c:v>-0.02</c:v>
                </c:pt>
                <c:pt idx="17">
                  <c:v>-0.02</c:v>
                </c:pt>
                <c:pt idx="18">
                  <c:v>-0.03</c:v>
                </c:pt>
                <c:pt idx="19">
                  <c:v>-0.02</c:v>
                </c:pt>
                <c:pt idx="20">
                  <c:v>-0.02</c:v>
                </c:pt>
                <c:pt idx="21">
                  <c:v>-0.03</c:v>
                </c:pt>
                <c:pt idx="22">
                  <c:v>-0.03</c:v>
                </c:pt>
                <c:pt idx="23">
                  <c:v>-0.03</c:v>
                </c:pt>
                <c:pt idx="24">
                  <c:v>-0.03</c:v>
                </c:pt>
                <c:pt idx="25">
                  <c:v>-0.03</c:v>
                </c:pt>
                <c:pt idx="26">
                  <c:v>-0.03</c:v>
                </c:pt>
                <c:pt idx="27">
                  <c:v>-0.04</c:v>
                </c:pt>
                <c:pt idx="28">
                  <c:v>-0.03</c:v>
                </c:pt>
                <c:pt idx="29">
                  <c:v>-0.04</c:v>
                </c:pt>
                <c:pt idx="30">
                  <c:v>-0.04</c:v>
                </c:pt>
                <c:pt idx="31">
                  <c:v>-0.03</c:v>
                </c:pt>
                <c:pt idx="32">
                  <c:v>-0.03</c:v>
                </c:pt>
                <c:pt idx="33">
                  <c:v>-0.03</c:v>
                </c:pt>
                <c:pt idx="34">
                  <c:v>-0.04</c:v>
                </c:pt>
                <c:pt idx="35">
                  <c:v>-0.03</c:v>
                </c:pt>
                <c:pt idx="36">
                  <c:v>-0.04</c:v>
                </c:pt>
                <c:pt idx="37">
                  <c:v>-0.04</c:v>
                </c:pt>
                <c:pt idx="38">
                  <c:v>-0.04</c:v>
                </c:pt>
                <c:pt idx="39">
                  <c:v>-0.03</c:v>
                </c:pt>
                <c:pt idx="40">
                  <c:v>-0.04</c:v>
                </c:pt>
                <c:pt idx="41">
                  <c:v>-0.04</c:v>
                </c:pt>
                <c:pt idx="42">
                  <c:v>-0.05</c:v>
                </c:pt>
                <c:pt idx="43">
                  <c:v>-0.03</c:v>
                </c:pt>
                <c:pt idx="44">
                  <c:v>-0.04</c:v>
                </c:pt>
                <c:pt idx="45">
                  <c:v>-0.04</c:v>
                </c:pt>
                <c:pt idx="46">
                  <c:v>-0.05</c:v>
                </c:pt>
                <c:pt idx="47">
                  <c:v>-0.04</c:v>
                </c:pt>
                <c:pt idx="48">
                  <c:v>-0.04</c:v>
                </c:pt>
                <c:pt idx="49">
                  <c:v>-0.05</c:v>
                </c:pt>
                <c:pt idx="50">
                  <c:v>-0.05</c:v>
                </c:pt>
                <c:pt idx="51">
                  <c:v>-0.05</c:v>
                </c:pt>
                <c:pt idx="52">
                  <c:v>-0.06</c:v>
                </c:pt>
                <c:pt idx="53">
                  <c:v>-0.06</c:v>
                </c:pt>
                <c:pt idx="54">
                  <c:v>-0.06</c:v>
                </c:pt>
                <c:pt idx="55">
                  <c:v>-0.06</c:v>
                </c:pt>
                <c:pt idx="56">
                  <c:v>-0.06</c:v>
                </c:pt>
                <c:pt idx="57">
                  <c:v>-0.07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86115539"/>
        <c:axId val="713948724"/>
      </c:scatterChart>
      <c:valAx>
        <c:axId val="8861155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电压</a:t>
                </a:r>
                <a:r>
                  <a:rPr lang="en-US" altLang="zh-CN"/>
                  <a:t>V</a:t>
                </a:r>
                <a:endParaRPr lang="en-US" altLang="zh-CN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13948724"/>
        <c:crosses val="autoZero"/>
        <c:crossBetween val="midCat"/>
      </c:valAx>
      <c:valAx>
        <c:axId val="7139487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误差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86115539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c0addfc-ec50-4a69-936a-11c5e2594cdb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Y+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xVal>
            <c:numRef>
              <c:f>[测试数据.xlsx]Sheet1!$G$3:$G$60</c:f>
              <c:numCache>
                <c:formatCode>General</c:formatCode>
                <c:ptCount val="5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</c:numCache>
            </c:numRef>
          </c:xVal>
          <c:yVal>
            <c:numRef>
              <c:f>[测试数据.xlsx]Sheet1!$H$3:$H$60</c:f>
              <c:numCache>
                <c:formatCode>General</c:formatCode>
                <c:ptCount val="58"/>
                <c:pt idx="0">
                  <c:v>0.003</c:v>
                </c:pt>
                <c:pt idx="1">
                  <c:v>-0.001</c:v>
                </c:pt>
                <c:pt idx="2">
                  <c:v>-0.001</c:v>
                </c:pt>
                <c:pt idx="3">
                  <c:v>0.008</c:v>
                </c:pt>
                <c:pt idx="4">
                  <c:v>0.009</c:v>
                </c:pt>
                <c:pt idx="5">
                  <c:v>0</c:v>
                </c:pt>
                <c:pt idx="6">
                  <c:v>-0.01</c:v>
                </c:pt>
                <c:pt idx="7">
                  <c:v>0</c:v>
                </c:pt>
                <c:pt idx="8">
                  <c:v>0</c:v>
                </c:pt>
                <c:pt idx="9">
                  <c:v>-0.01</c:v>
                </c:pt>
                <c:pt idx="10">
                  <c:v>-0.01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-0.01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-0.01</c:v>
                </c:pt>
                <c:pt idx="19">
                  <c:v>0.01</c:v>
                </c:pt>
                <c:pt idx="20">
                  <c:v>0</c:v>
                </c:pt>
                <c:pt idx="21">
                  <c:v>0</c:v>
                </c:pt>
                <c:pt idx="22">
                  <c:v>-0.01</c:v>
                </c:pt>
                <c:pt idx="23">
                  <c:v>0</c:v>
                </c:pt>
                <c:pt idx="24">
                  <c:v>0</c:v>
                </c:pt>
                <c:pt idx="25">
                  <c:v>-0.01</c:v>
                </c:pt>
                <c:pt idx="26">
                  <c:v>-0.02</c:v>
                </c:pt>
                <c:pt idx="27">
                  <c:v>0</c:v>
                </c:pt>
                <c:pt idx="28">
                  <c:v>-0.01</c:v>
                </c:pt>
                <c:pt idx="29">
                  <c:v>-0.02</c:v>
                </c:pt>
                <c:pt idx="30">
                  <c:v>-0.02</c:v>
                </c:pt>
                <c:pt idx="31">
                  <c:v>-0.01</c:v>
                </c:pt>
                <c:pt idx="32">
                  <c:v>-0.02</c:v>
                </c:pt>
                <c:pt idx="33">
                  <c:v>-0.03</c:v>
                </c:pt>
                <c:pt idx="34">
                  <c:v>-0.03</c:v>
                </c:pt>
                <c:pt idx="35">
                  <c:v>-0.02</c:v>
                </c:pt>
                <c:pt idx="36">
                  <c:v>-0.02</c:v>
                </c:pt>
                <c:pt idx="37">
                  <c:v>-0.03</c:v>
                </c:pt>
                <c:pt idx="38">
                  <c:v>-0.03</c:v>
                </c:pt>
                <c:pt idx="39">
                  <c:v>-0.02</c:v>
                </c:pt>
                <c:pt idx="40">
                  <c:v>-0.02</c:v>
                </c:pt>
                <c:pt idx="41">
                  <c:v>-0.03</c:v>
                </c:pt>
                <c:pt idx="42">
                  <c:v>-0.03</c:v>
                </c:pt>
                <c:pt idx="43">
                  <c:v>-0.02</c:v>
                </c:pt>
                <c:pt idx="44">
                  <c:v>-0.02</c:v>
                </c:pt>
                <c:pt idx="45">
                  <c:v>-0.03</c:v>
                </c:pt>
                <c:pt idx="46">
                  <c:v>-0.03</c:v>
                </c:pt>
                <c:pt idx="47">
                  <c:v>-0.02</c:v>
                </c:pt>
                <c:pt idx="48">
                  <c:v>-0.03</c:v>
                </c:pt>
                <c:pt idx="49">
                  <c:v>-0.03</c:v>
                </c:pt>
                <c:pt idx="50">
                  <c:v>-0.04</c:v>
                </c:pt>
                <c:pt idx="51">
                  <c:v>-0.03</c:v>
                </c:pt>
                <c:pt idx="52">
                  <c:v>-0.04</c:v>
                </c:pt>
                <c:pt idx="53">
                  <c:v>-0.04</c:v>
                </c:pt>
                <c:pt idx="54">
                  <c:v>-0.05</c:v>
                </c:pt>
                <c:pt idx="55">
                  <c:v>-0.03</c:v>
                </c:pt>
                <c:pt idx="56">
                  <c:v>-0.04</c:v>
                </c:pt>
                <c:pt idx="57">
                  <c:v>-0.05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24817858"/>
        <c:axId val="887888734"/>
      </c:scatterChart>
      <c:valAx>
        <c:axId val="82481785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电压</a:t>
                </a:r>
                <a:r>
                  <a:rPr lang="en-US" altLang="zh-CN"/>
                  <a:t>V</a:t>
                </a:r>
                <a:endParaRPr lang="en-US" altLang="zh-CN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87888734"/>
        <c:crosses val="autoZero"/>
        <c:crossBetween val="midCat"/>
      </c:valAx>
      <c:valAx>
        <c:axId val="88788873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误差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4817858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8ed3f2a-fad9-4d0b-89dd-204ac16e7307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Y-</a:t>
            </a:r>
            <a:endParaRPr lang="en-US" altLang="zh-CN"/>
          </a:p>
        </c:rich>
      </c:tx>
      <c:layout>
        <c:manualLayout>
          <c:xMode val="edge"/>
          <c:yMode val="edge"/>
          <c:x val="0.478745874587459"/>
          <c:y val="0.032348521081459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xVal>
            <c:numRef>
              <c:f>[测试数据.xlsx]Sheet1!$J$3:$J$60</c:f>
              <c:numCache>
                <c:formatCode>General</c:formatCode>
                <c:ptCount val="5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</c:numCache>
            </c:numRef>
          </c:xVal>
          <c:yVal>
            <c:numRef>
              <c:f>[测试数据.xlsx]Sheet1!$K$3:$K$60</c:f>
              <c:numCache>
                <c:formatCode>General</c:formatCode>
                <c:ptCount val="58"/>
                <c:pt idx="0">
                  <c:v>0.02</c:v>
                </c:pt>
                <c:pt idx="1">
                  <c:v>0.014</c:v>
                </c:pt>
                <c:pt idx="2">
                  <c:v>0.012</c:v>
                </c:pt>
                <c:pt idx="3">
                  <c:v>0.02</c:v>
                </c:pt>
                <c:pt idx="4">
                  <c:v>0.009</c:v>
                </c:pt>
                <c:pt idx="5">
                  <c:v>0</c:v>
                </c:pt>
                <c:pt idx="6">
                  <c:v>0.01</c:v>
                </c:pt>
                <c:pt idx="7">
                  <c:v>0</c:v>
                </c:pt>
                <c:pt idx="8">
                  <c:v>0.01</c:v>
                </c:pt>
                <c:pt idx="9">
                  <c:v>0</c:v>
                </c:pt>
                <c:pt idx="10">
                  <c:v>0</c:v>
                </c:pt>
                <c:pt idx="11">
                  <c:v>0.01</c:v>
                </c:pt>
                <c:pt idx="12">
                  <c:v>0</c:v>
                </c:pt>
                <c:pt idx="13">
                  <c:v>0</c:v>
                </c:pt>
                <c:pt idx="14">
                  <c:v>-0.01</c:v>
                </c:pt>
                <c:pt idx="15">
                  <c:v>0.01</c:v>
                </c:pt>
                <c:pt idx="16">
                  <c:v>0</c:v>
                </c:pt>
                <c:pt idx="17">
                  <c:v>0</c:v>
                </c:pt>
                <c:pt idx="18">
                  <c:v>-0.01</c:v>
                </c:pt>
                <c:pt idx="19">
                  <c:v>0.01</c:v>
                </c:pt>
                <c:pt idx="20">
                  <c:v>0</c:v>
                </c:pt>
                <c:pt idx="21">
                  <c:v>0.01</c:v>
                </c:pt>
                <c:pt idx="22">
                  <c:v>0</c:v>
                </c:pt>
                <c:pt idx="23">
                  <c:v>0.01</c:v>
                </c:pt>
                <c:pt idx="24">
                  <c:v>0.01</c:v>
                </c:pt>
                <c:pt idx="25">
                  <c:v>0.01</c:v>
                </c:pt>
                <c:pt idx="26">
                  <c:v>0</c:v>
                </c:pt>
                <c:pt idx="27">
                  <c:v>0.01</c:v>
                </c:pt>
                <c:pt idx="28">
                  <c:v>0.01</c:v>
                </c:pt>
                <c:pt idx="29">
                  <c:v>0</c:v>
                </c:pt>
                <c:pt idx="30">
                  <c:v>0</c:v>
                </c:pt>
                <c:pt idx="31">
                  <c:v>0.01</c:v>
                </c:pt>
                <c:pt idx="32">
                  <c:v>0.01</c:v>
                </c:pt>
                <c:pt idx="33">
                  <c:v>0</c:v>
                </c:pt>
                <c:pt idx="34">
                  <c:v>0</c:v>
                </c:pt>
                <c:pt idx="35">
                  <c:v>0.01</c:v>
                </c:pt>
                <c:pt idx="36">
                  <c:v>0.01</c:v>
                </c:pt>
                <c:pt idx="37">
                  <c:v>0</c:v>
                </c:pt>
                <c:pt idx="38">
                  <c:v>0</c:v>
                </c:pt>
                <c:pt idx="39">
                  <c:v>0.01</c:v>
                </c:pt>
                <c:pt idx="40">
                  <c:v>0.01</c:v>
                </c:pt>
                <c:pt idx="41">
                  <c:v>0</c:v>
                </c:pt>
                <c:pt idx="42">
                  <c:v>0</c:v>
                </c:pt>
                <c:pt idx="43">
                  <c:v>0.01</c:v>
                </c:pt>
                <c:pt idx="44">
                  <c:v>0.01</c:v>
                </c:pt>
                <c:pt idx="45">
                  <c:v>0.01</c:v>
                </c:pt>
                <c:pt idx="46">
                  <c:v>0</c:v>
                </c:pt>
                <c:pt idx="47">
                  <c:v>0.01</c:v>
                </c:pt>
                <c:pt idx="48">
                  <c:v>0</c:v>
                </c:pt>
                <c:pt idx="49">
                  <c:v>0</c:v>
                </c:pt>
                <c:pt idx="50">
                  <c:v>-0.01</c:v>
                </c:pt>
                <c:pt idx="51">
                  <c:v>0</c:v>
                </c:pt>
                <c:pt idx="52">
                  <c:v>-0.01</c:v>
                </c:pt>
                <c:pt idx="53">
                  <c:v>-0.01</c:v>
                </c:pt>
                <c:pt idx="54">
                  <c:v>-0.02</c:v>
                </c:pt>
                <c:pt idx="55">
                  <c:v>-0.01</c:v>
                </c:pt>
                <c:pt idx="56">
                  <c:v>-0.02</c:v>
                </c:pt>
                <c:pt idx="57">
                  <c:v>-0.02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635607"/>
        <c:axId val="184607458"/>
      </c:scatterChart>
      <c:valAx>
        <c:axId val="546356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电压</a:t>
                </a:r>
                <a:r>
                  <a:rPr lang="en-US" altLang="zh-CN"/>
                  <a:t>V</a:t>
                </a:r>
                <a:endParaRPr lang="en-US" altLang="zh-CN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4607458"/>
        <c:crosses val="autoZero"/>
        <c:crossBetween val="midCat"/>
      </c:valAx>
      <c:valAx>
        <c:axId val="1846074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误差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635607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ffc91ae-4b89-497f-8950-9dec55347c10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X-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"/>
        <c:varyColors val="0"/>
        <c:ser>
          <c:idx val="0"/>
          <c:order val="0"/>
          <c:tx>
            <c:strRef>
              <c:f>[测试数据.xlsx]Sheet1!$E$2</c:f>
              <c:strCache>
                <c:ptCount val="1"/>
                <c:pt idx="0">
                  <c:v>误差值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xVal>
            <c:numRef>
              <c:f>[测试数据.xlsx]Sheet1!$D$3:$D$60</c:f>
              <c:numCache>
                <c:formatCode>General</c:formatCode>
                <c:ptCount val="5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</c:numCache>
            </c:numRef>
          </c:xVal>
          <c:yVal>
            <c:numRef>
              <c:f>[测试数据.xlsx]Sheet1!$E$3:$E$60</c:f>
              <c:numCache>
                <c:formatCode>General</c:formatCode>
                <c:ptCount val="58"/>
                <c:pt idx="0">
                  <c:v>-0.002</c:v>
                </c:pt>
                <c:pt idx="1">
                  <c:v>-0.005</c:v>
                </c:pt>
                <c:pt idx="2">
                  <c:v>-0.011</c:v>
                </c:pt>
                <c:pt idx="3">
                  <c:v>0.001</c:v>
                </c:pt>
                <c:pt idx="4">
                  <c:v>-0.008</c:v>
                </c:pt>
                <c:pt idx="5">
                  <c:v>-0.02</c:v>
                </c:pt>
                <c:pt idx="6">
                  <c:v>-0.03</c:v>
                </c:pt>
                <c:pt idx="7">
                  <c:v>-0.02</c:v>
                </c:pt>
                <c:pt idx="8">
                  <c:v>-0.02</c:v>
                </c:pt>
                <c:pt idx="9">
                  <c:v>-0.02</c:v>
                </c:pt>
                <c:pt idx="10">
                  <c:v>-0.03</c:v>
                </c:pt>
                <c:pt idx="11">
                  <c:v>-0.02</c:v>
                </c:pt>
                <c:pt idx="12">
                  <c:v>-0.02</c:v>
                </c:pt>
                <c:pt idx="13">
                  <c:v>-0.03</c:v>
                </c:pt>
                <c:pt idx="14">
                  <c:v>-0.03</c:v>
                </c:pt>
                <c:pt idx="15">
                  <c:v>-0.02</c:v>
                </c:pt>
                <c:pt idx="16">
                  <c:v>-0.02</c:v>
                </c:pt>
                <c:pt idx="17">
                  <c:v>-0.02</c:v>
                </c:pt>
                <c:pt idx="18">
                  <c:v>-0.03</c:v>
                </c:pt>
                <c:pt idx="19">
                  <c:v>-0.02</c:v>
                </c:pt>
                <c:pt idx="20">
                  <c:v>-0.02</c:v>
                </c:pt>
                <c:pt idx="21">
                  <c:v>-0.03</c:v>
                </c:pt>
                <c:pt idx="22">
                  <c:v>-0.03</c:v>
                </c:pt>
                <c:pt idx="23">
                  <c:v>-0.03</c:v>
                </c:pt>
                <c:pt idx="24">
                  <c:v>-0.03</c:v>
                </c:pt>
                <c:pt idx="25">
                  <c:v>-0.03</c:v>
                </c:pt>
                <c:pt idx="26">
                  <c:v>-0.03</c:v>
                </c:pt>
                <c:pt idx="27">
                  <c:v>-0.04</c:v>
                </c:pt>
                <c:pt idx="28">
                  <c:v>-0.03</c:v>
                </c:pt>
                <c:pt idx="29">
                  <c:v>-0.04</c:v>
                </c:pt>
                <c:pt idx="30">
                  <c:v>-0.04</c:v>
                </c:pt>
                <c:pt idx="31">
                  <c:v>-0.03</c:v>
                </c:pt>
                <c:pt idx="32">
                  <c:v>-0.03</c:v>
                </c:pt>
                <c:pt idx="33">
                  <c:v>-0.03</c:v>
                </c:pt>
                <c:pt idx="34">
                  <c:v>-0.04</c:v>
                </c:pt>
                <c:pt idx="35">
                  <c:v>-0.03</c:v>
                </c:pt>
                <c:pt idx="36">
                  <c:v>-0.04</c:v>
                </c:pt>
                <c:pt idx="37">
                  <c:v>-0.04</c:v>
                </c:pt>
                <c:pt idx="38">
                  <c:v>-0.04</c:v>
                </c:pt>
                <c:pt idx="39">
                  <c:v>-0.03</c:v>
                </c:pt>
                <c:pt idx="40">
                  <c:v>-0.04</c:v>
                </c:pt>
                <c:pt idx="41">
                  <c:v>-0.04</c:v>
                </c:pt>
                <c:pt idx="42">
                  <c:v>-0.05</c:v>
                </c:pt>
                <c:pt idx="43">
                  <c:v>-0.03</c:v>
                </c:pt>
                <c:pt idx="44">
                  <c:v>-0.04</c:v>
                </c:pt>
                <c:pt idx="45">
                  <c:v>-0.04</c:v>
                </c:pt>
                <c:pt idx="46">
                  <c:v>-0.05</c:v>
                </c:pt>
                <c:pt idx="47">
                  <c:v>-0.04</c:v>
                </c:pt>
                <c:pt idx="48">
                  <c:v>-0.04</c:v>
                </c:pt>
                <c:pt idx="49">
                  <c:v>-0.05</c:v>
                </c:pt>
                <c:pt idx="50">
                  <c:v>-0.05</c:v>
                </c:pt>
                <c:pt idx="51">
                  <c:v>-0.05</c:v>
                </c:pt>
                <c:pt idx="52">
                  <c:v>-0.06</c:v>
                </c:pt>
                <c:pt idx="53">
                  <c:v>-0.06</c:v>
                </c:pt>
                <c:pt idx="54">
                  <c:v>-0.06</c:v>
                </c:pt>
                <c:pt idx="55">
                  <c:v>-0.06</c:v>
                </c:pt>
                <c:pt idx="56">
                  <c:v>-0.06</c:v>
                </c:pt>
                <c:pt idx="57">
                  <c:v>-0.07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[测试数据.xlsx]Sheet1!$F$2</c:f>
              <c:strCache>
                <c:ptCount val="1"/>
                <c:pt idx="0">
                  <c:v>校准后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xVal>
            <c:numRef>
              <c:f>[测试数据.xlsx]Sheet1!$D$3:$D$60</c:f>
              <c:numCache>
                <c:formatCode>General</c:formatCode>
                <c:ptCount val="5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</c:numCache>
            </c:numRef>
          </c:xVal>
          <c:yVal>
            <c:numRef>
              <c:f>[测试数据.xlsx]Sheet1!$F$3:$F$60</c:f>
              <c:numCache>
                <c:formatCode>General</c:formatCode>
                <c:ptCount val="58"/>
                <c:pt idx="0">
                  <c:v>-0.002</c:v>
                </c:pt>
                <c:pt idx="1">
                  <c:v>-0.005</c:v>
                </c:pt>
                <c:pt idx="2">
                  <c:v>-0.004</c:v>
                </c:pt>
                <c:pt idx="3">
                  <c:v>0.001</c:v>
                </c:pt>
                <c:pt idx="4">
                  <c:v>-0.008</c:v>
                </c:pt>
                <c:pt idx="5">
                  <c:v>0.004</c:v>
                </c:pt>
                <c:pt idx="6">
                  <c:v>-0.01</c:v>
                </c:pt>
                <c:pt idx="7">
                  <c:v>0</c:v>
                </c:pt>
                <c:pt idx="8">
                  <c:v>-0.01</c:v>
                </c:pt>
                <c:pt idx="9">
                  <c:v>-0.01</c:v>
                </c:pt>
                <c:pt idx="10">
                  <c:v>0</c:v>
                </c:pt>
                <c:pt idx="11">
                  <c:v>0</c:v>
                </c:pt>
                <c:pt idx="12">
                  <c:v>-0.01</c:v>
                </c:pt>
                <c:pt idx="13">
                  <c:v>-0.01</c:v>
                </c:pt>
                <c:pt idx="14">
                  <c:v>0</c:v>
                </c:pt>
                <c:pt idx="15">
                  <c:v>-0.01</c:v>
                </c:pt>
                <c:pt idx="16">
                  <c:v>-0.01</c:v>
                </c:pt>
                <c:pt idx="17">
                  <c:v>-0.01</c:v>
                </c:pt>
                <c:pt idx="18">
                  <c:v>0</c:v>
                </c:pt>
                <c:pt idx="19">
                  <c:v>-0.01</c:v>
                </c:pt>
                <c:pt idx="20">
                  <c:v>-0.01</c:v>
                </c:pt>
                <c:pt idx="21">
                  <c:v>0</c:v>
                </c:pt>
                <c:pt idx="22">
                  <c:v>0</c:v>
                </c:pt>
                <c:pt idx="23">
                  <c:v>-0.01</c:v>
                </c:pt>
                <c:pt idx="24">
                  <c:v>0</c:v>
                </c:pt>
                <c:pt idx="25">
                  <c:v>-0.01</c:v>
                </c:pt>
                <c:pt idx="26">
                  <c:v>0.01</c:v>
                </c:pt>
                <c:pt idx="27">
                  <c:v>0</c:v>
                </c:pt>
                <c:pt idx="28">
                  <c:v>0</c:v>
                </c:pt>
                <c:pt idx="29">
                  <c:v>0.01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-0.01</c:v>
                </c:pt>
                <c:pt idx="34">
                  <c:v>0</c:v>
                </c:pt>
                <c:pt idx="35">
                  <c:v>0</c:v>
                </c:pt>
                <c:pt idx="36">
                  <c:v>-0.01</c:v>
                </c:pt>
                <c:pt idx="37">
                  <c:v>-0.01</c:v>
                </c:pt>
                <c:pt idx="38">
                  <c:v>-0.01</c:v>
                </c:pt>
                <c:pt idx="39">
                  <c:v>0</c:v>
                </c:pt>
                <c:pt idx="40">
                  <c:v>-0.01</c:v>
                </c:pt>
                <c:pt idx="41">
                  <c:v>-0.01</c:v>
                </c:pt>
                <c:pt idx="42">
                  <c:v>0</c:v>
                </c:pt>
                <c:pt idx="43">
                  <c:v>0</c:v>
                </c:pt>
                <c:pt idx="44">
                  <c:v>-0.01</c:v>
                </c:pt>
                <c:pt idx="45">
                  <c:v>0</c:v>
                </c:pt>
                <c:pt idx="46">
                  <c:v>0</c:v>
                </c:pt>
                <c:pt idx="47">
                  <c:v>0.01</c:v>
                </c:pt>
                <c:pt idx="48">
                  <c:v>0</c:v>
                </c:pt>
                <c:pt idx="49">
                  <c:v>-0.01</c:v>
                </c:pt>
                <c:pt idx="50">
                  <c:v>0</c:v>
                </c:pt>
                <c:pt idx="51">
                  <c:v>-0.01</c:v>
                </c:pt>
                <c:pt idx="52">
                  <c:v>0.01</c:v>
                </c:pt>
                <c:pt idx="53">
                  <c:v>0</c:v>
                </c:pt>
                <c:pt idx="54">
                  <c:v>-0.01</c:v>
                </c:pt>
                <c:pt idx="55">
                  <c:v>0</c:v>
                </c:pt>
                <c:pt idx="56">
                  <c:v>-0.01</c:v>
                </c:pt>
                <c:pt idx="57">
                  <c:v>0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64246590"/>
        <c:axId val="572065392"/>
      </c:scatterChart>
      <c:valAx>
        <c:axId val="86424659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72065392"/>
        <c:crosses val="autoZero"/>
        <c:crossBetween val="midCat"/>
      </c:valAx>
      <c:valAx>
        <c:axId val="57206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64246590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3911a88-1f1b-4176-8921-619f842a0dcf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9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19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9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9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19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1414D-04C4-4A9C-9BF0-5C47E390DC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36316-AC1A-40DC-ACB8-2D419362C09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A8F1-56ED-44E3-81C2-905DB8CB579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3734-F031-4E07-A0DE-23FE0956571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B50-FE8C-4FC1-82B2-FA70421A96C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F312-40FB-4307-A5DF-2E8931DF7E9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E8BF-3F56-464B-AB0F-B77D20F0D5E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7CDF-3831-4508-BF04-7312BF78C31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5DDBE-4DDB-48C4-AF90-FF87866E0BE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D243E-A06B-4B47-A5C0-23F5A611276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94EC-76F7-4F0C-8668-11896B826F1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0902-1D5C-4182-9DC0-11504E37E30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6E883-5372-4324-B1E1-A02644F3E9C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 bwMode="auto">
      <p:bgPr>
        <a:solidFill>
          <a:schemeClr val="bg1">
            <a:alpha val="4509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6" descr="PPTyong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2043"/>
          <a:stretch>
            <a:fillRect/>
          </a:stretch>
        </p:blipFill>
        <p:spPr bwMode="auto">
          <a:xfrm>
            <a:off x="-17087" y="6339725"/>
            <a:ext cx="122174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311217" y="6356351"/>
            <a:ext cx="2844800" cy="366183"/>
          </a:xfrm>
        </p:spPr>
        <p:txBody>
          <a:bodyPr wrap="square" numCol="1" anchorCtr="0" compatLnSpc="1"/>
          <a:lstStyle>
            <a:lvl1pPr fontAlgn="base">
              <a:defRPr sz="1200" smtClean="0">
                <a:solidFill>
                  <a:schemeClr val="tx1"/>
                </a:solidFill>
              </a:defRPr>
            </a:lvl1pPr>
          </a:lstStyle>
          <a:p>
            <a:fld id="{E3179733-CA4D-4A20-9DD4-6038C4ACEF81}" type="slidenum">
              <a:rPr altLang="en-US"/>
            </a:fld>
            <a:endParaRPr lang="en-US" altLang="en-US"/>
          </a:p>
        </p:txBody>
      </p:sp>
      <p:sp>
        <p:nvSpPr>
          <p:cNvPr id="10" name="矩形 2"/>
          <p:cNvSpPr/>
          <p:nvPr userDrawn="1"/>
        </p:nvSpPr>
        <p:spPr>
          <a:xfrm>
            <a:off x="111070" y="6506150"/>
            <a:ext cx="2087934" cy="2294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9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Arial" panose="020B0604020202020204" pitchFamily="34" charset="0"/>
              </a:rPr>
              <a:t>深圳市欧亿光电技术有限公司</a:t>
            </a:r>
            <a:endParaRPr lang="zh-CN" altLang="en-US" sz="900" dirty="0">
              <a:solidFill>
                <a:schemeClr val="bg1"/>
              </a:solidFill>
              <a:latin typeface="等线 Light" panose="02010600030101010101" charset="-122"/>
              <a:ea typeface="等线 Light" panose="02010600030101010101" charset="-122"/>
              <a:sym typeface="Arial" panose="020B0604020202020204" pitchFamily="34" charset="0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10345055" y="6434168"/>
            <a:ext cx="1568492" cy="2598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Arial" panose="020B0604020202020204" pitchFamily="34" charset="0"/>
              </a:rPr>
              <a:t>www.oe-photonics.cn</a:t>
            </a:r>
            <a:endParaRPr lang="en-US" altLang="zh-CN" sz="1000" dirty="0">
              <a:solidFill>
                <a:schemeClr val="bg1"/>
              </a:solidFill>
              <a:latin typeface="等线 Light" panose="02010600030101010101" charset="-122"/>
              <a:ea typeface="等线 Light" panose="02010600030101010101" charset="-122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82944" y="786331"/>
            <a:ext cx="7610475" cy="4886325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593369" y="476250"/>
            <a:ext cx="9610530" cy="545927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4" descr="左右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66400" y="254922"/>
            <a:ext cx="1125538" cy="227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本框 5"/>
          <p:cNvSpPr txBox="1"/>
          <p:nvPr userDrawn="1"/>
        </p:nvSpPr>
        <p:spPr>
          <a:xfrm>
            <a:off x="10344150" y="543847"/>
            <a:ext cx="1620838" cy="212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800" dirty="0">
                <a:latin typeface="等线 Light" panose="02010600030101010101" charset="-122"/>
                <a:ea typeface="等线 Light" panose="02010600030101010101" charset="-122"/>
              </a:rPr>
              <a:t>——</a:t>
            </a:r>
            <a:r>
              <a:rPr lang="zh-CN" altLang="en-US" sz="800" dirty="0">
                <a:latin typeface="等线 Light" panose="02010600030101010101" charset="-122"/>
                <a:ea typeface="等线 Light" panose="02010600030101010101" charset="-122"/>
              </a:rPr>
              <a:t>先进的光器件与模块供应商</a:t>
            </a:r>
            <a:endParaRPr lang="zh-CN" altLang="en-US" sz="800" dirty="0">
              <a:latin typeface="等线 Light" panose="02010600030101010101" charset="-122"/>
              <a:ea typeface="等线 Light" panose="02010600030101010101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4" descr="左右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6400" y="254922"/>
            <a:ext cx="1125538" cy="227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5"/>
          <p:cNvSpPr txBox="1"/>
          <p:nvPr userDrawn="1"/>
        </p:nvSpPr>
        <p:spPr>
          <a:xfrm>
            <a:off x="10344150" y="543847"/>
            <a:ext cx="1620838" cy="212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800" dirty="0">
                <a:latin typeface="等线 Light" panose="02010600030101010101" charset="-122"/>
                <a:ea typeface="等线 Light" panose="02010600030101010101" charset="-122"/>
              </a:rPr>
              <a:t>——</a:t>
            </a:r>
            <a:r>
              <a:rPr lang="zh-CN" altLang="en-US" sz="800" dirty="0">
                <a:latin typeface="等线 Light" panose="02010600030101010101" charset="-122"/>
                <a:ea typeface="等线 Light" panose="02010600030101010101" charset="-122"/>
              </a:rPr>
              <a:t>先进的光器件与模块供应商</a:t>
            </a:r>
            <a:endParaRPr lang="zh-CN" altLang="en-US" sz="800" dirty="0"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6225" y="6356350"/>
            <a:ext cx="1781175" cy="36512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/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1C319-A288-4247-9632-80DC3AA0ECF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7"/>
          <p:cNvSpPr>
            <a:spLocks noChangeArrowheads="1"/>
          </p:cNvSpPr>
          <p:nvPr/>
        </p:nvSpPr>
        <p:spPr bwMode="auto">
          <a:xfrm>
            <a:off x="2631452" y="2437083"/>
            <a:ext cx="7207871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GB" altLang="zh-CN" sz="3735" b="1" dirty="0">
                <a:solidFill>
                  <a:srgbClr val="1D6295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XXX </a:t>
            </a:r>
            <a:r>
              <a:rPr lang="zh-CN" altLang="en-US" sz="3735" b="1" dirty="0">
                <a:solidFill>
                  <a:srgbClr val="1D6295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验证</a:t>
            </a:r>
            <a:endParaRPr lang="en-US" altLang="zh-CN" sz="3735" b="1" dirty="0">
              <a:solidFill>
                <a:srgbClr val="1D6295"/>
              </a:solidFill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4340" name="图片 9" descr="PPTyong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0" t="6784" r="39340" b="92084"/>
          <a:stretch>
            <a:fillRect/>
          </a:stretch>
        </p:blipFill>
        <p:spPr bwMode="auto">
          <a:xfrm flipV="1">
            <a:off x="2735671" y="3279439"/>
            <a:ext cx="6616343" cy="130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274310" y="3585845"/>
            <a:ext cx="1964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>
                <a:solidFill>
                  <a:schemeClr val="accent1">
                    <a:lumMod val="75000"/>
                  </a:schemeClr>
                </a:solidFill>
              </a:rPr>
              <a:t>2024-6-27         </a:t>
            </a:r>
            <a:endParaRPr lang="en-US" altLang="zh-CN" sz="2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9733-CA4D-4A20-9DD4-6038C4ACEF81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726414" y="3585576"/>
            <a:ext cx="1625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i="1" dirty="0">
                <a:solidFill>
                  <a:schemeClr val="accent1">
                    <a:lumMod val="75000"/>
                  </a:schemeClr>
                </a:solidFill>
              </a:rPr>
              <a:t>郭丁浪</a:t>
            </a:r>
            <a:r>
              <a:rPr lang="en-US" altLang="zh-CN" sz="2800" i="1" dirty="0">
                <a:solidFill>
                  <a:schemeClr val="accent1">
                    <a:lumMod val="75000"/>
                  </a:schemeClr>
                </a:solidFill>
              </a:rPr>
              <a:t>       </a:t>
            </a:r>
            <a:endParaRPr lang="en-US" altLang="zh-CN" sz="2800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1665"/>
            <a:chOff x="0" y="155973"/>
            <a:chExt cx="2477691" cy="345454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5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956048" y="1621026"/>
            <a:ext cx="10048876" cy="3382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09600" lvl="1"/>
            <a:r>
              <a:rPr lang="zh-CN" altLang="en-US" sz="2400" dirty="0">
                <a:solidFill>
                  <a:schemeClr val="tx1"/>
                </a:solidFill>
              </a:rPr>
              <a:t>一、概述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09600" lvl="1"/>
            <a:endParaRPr lang="zh-CN" altLang="en-US" sz="2400" dirty="0">
              <a:solidFill>
                <a:schemeClr val="tx1"/>
              </a:solidFill>
            </a:endParaRPr>
          </a:p>
          <a:p>
            <a:pPr marL="609600" lvl="1"/>
            <a:r>
              <a:rPr lang="zh-CN" altLang="en-US" sz="2400" dirty="0">
                <a:solidFill>
                  <a:schemeClr val="tx1"/>
                </a:solidFill>
              </a:rPr>
              <a:t>二、验证功能</a:t>
            </a:r>
            <a:r>
              <a:rPr lang="en-GB" altLang="zh-CN" sz="2400" dirty="0">
                <a:solidFill>
                  <a:schemeClr val="tx1"/>
                </a:solidFill>
              </a:rPr>
              <a:t>(</a:t>
            </a:r>
            <a:r>
              <a:rPr lang="zh-CN" altLang="en-US" sz="2400" dirty="0">
                <a:solidFill>
                  <a:schemeClr val="tx1"/>
                </a:solidFill>
              </a:rPr>
              <a:t>内容</a:t>
            </a:r>
            <a:r>
              <a:rPr lang="en-US" altLang="zh-CN" sz="2400" dirty="0">
                <a:solidFill>
                  <a:schemeClr val="tx1"/>
                </a:solidFill>
              </a:rPr>
              <a:t>+</a:t>
            </a:r>
            <a:r>
              <a:rPr lang="zh-CN" altLang="en-US" sz="2400" dirty="0">
                <a:solidFill>
                  <a:schemeClr val="tx1"/>
                </a:solidFill>
              </a:rPr>
              <a:t>数据）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609600" lvl="1"/>
            <a:endParaRPr lang="en-US" altLang="zh-CN" sz="2400" dirty="0">
              <a:solidFill>
                <a:schemeClr val="tx1"/>
              </a:solidFill>
            </a:endParaRPr>
          </a:p>
          <a:p>
            <a:pPr marL="609600" lvl="1"/>
            <a:r>
              <a:rPr lang="zh-CN" altLang="en-US" sz="2400" dirty="0">
                <a:solidFill>
                  <a:schemeClr val="tx1"/>
                </a:solidFill>
              </a:rPr>
              <a:t>三、校准流程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609600" lvl="1"/>
            <a:endParaRPr lang="en-US" altLang="zh-CN" sz="2400" dirty="0">
              <a:solidFill>
                <a:schemeClr val="tx1"/>
              </a:solidFill>
            </a:endParaRPr>
          </a:p>
          <a:p>
            <a:pPr marL="609600" lvl="1"/>
            <a:r>
              <a:rPr lang="zh-CN" altLang="en-US" sz="2400" dirty="0">
                <a:solidFill>
                  <a:schemeClr val="tx1"/>
                </a:solidFill>
              </a:rPr>
              <a:t>四、校准算法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609600" lvl="1"/>
            <a:endParaRPr lang="en-US" altLang="zh-CN" sz="2400" dirty="0">
              <a:solidFill>
                <a:schemeClr val="tx1"/>
              </a:solidFill>
            </a:endParaRPr>
          </a:p>
          <a:p>
            <a:pPr marL="609600" lvl="1"/>
            <a:r>
              <a:rPr lang="zh-CN" altLang="en-US" sz="2400" dirty="0">
                <a:solidFill>
                  <a:schemeClr val="tx1"/>
                </a:solidFill>
              </a:rPr>
              <a:t>五、校准结果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4" name="标题 38"/>
          <p:cNvSpPr>
            <a:spLocks noGrp="1"/>
          </p:cNvSpPr>
          <p:nvPr/>
        </p:nvSpPr>
        <p:spPr>
          <a:xfrm>
            <a:off x="1238517" y="808079"/>
            <a:ext cx="7812350" cy="6739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验证摘要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1665"/>
            <a:chOff x="0" y="155973"/>
            <a:chExt cx="2477691" cy="345454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5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462280" y="796290"/>
            <a:ext cx="10683875" cy="155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09600" lvl="1"/>
            <a:r>
              <a:rPr lang="zh-CN" altLang="en-US" sz="2400" dirty="0">
                <a:solidFill>
                  <a:schemeClr val="tx1"/>
                </a:solidFill>
              </a:rPr>
              <a:t>一、概述：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1066800" lvl="2" indent="457200"/>
            <a:r>
              <a:rPr lang="en-US" altLang="zh-CN" sz="2400" dirty="0">
                <a:solidFill>
                  <a:schemeClr val="tx1"/>
                </a:solidFill>
              </a:rPr>
              <a:t>MEMS</a:t>
            </a:r>
            <a:r>
              <a:rPr lang="zh-CN" altLang="en-US" sz="2400" dirty="0">
                <a:solidFill>
                  <a:schemeClr val="tx1"/>
                </a:solidFill>
              </a:rPr>
              <a:t>开关</a:t>
            </a:r>
            <a:r>
              <a:rPr lang="en-US" altLang="zh-CN" sz="2400" dirty="0">
                <a:solidFill>
                  <a:schemeClr val="tx1"/>
                </a:solidFill>
              </a:rPr>
              <a:t>C4-1 PCB </a:t>
            </a:r>
            <a:r>
              <a:rPr lang="zh-CN" altLang="en-US" sz="2400" dirty="0">
                <a:solidFill>
                  <a:schemeClr val="tx1"/>
                </a:solidFill>
              </a:rPr>
              <a:t>板输出</a:t>
            </a: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r>
              <a:rPr lang="zh-CN" altLang="en-US" sz="2400" dirty="0">
                <a:solidFill>
                  <a:schemeClr val="tx1"/>
                </a:solidFill>
              </a:rPr>
              <a:t>个电压</a:t>
            </a:r>
            <a:r>
              <a:rPr lang="en-US" altLang="zh-CN" sz="2400" dirty="0">
                <a:solidFill>
                  <a:schemeClr val="tx1"/>
                </a:solidFill>
              </a:rPr>
              <a:t>X+ X- Y+ Y- </a:t>
            </a:r>
            <a:r>
              <a:rPr lang="zh-CN" altLang="en-US" sz="2400" dirty="0">
                <a:solidFill>
                  <a:schemeClr val="tx1"/>
                </a:solidFill>
              </a:rPr>
              <a:t>，输出范围从</a:t>
            </a:r>
            <a:r>
              <a:rPr lang="en-US" altLang="zh-CN" sz="2400" dirty="0">
                <a:solidFill>
                  <a:schemeClr val="tx1"/>
                </a:solidFill>
              </a:rPr>
              <a:t>0~58V</a:t>
            </a:r>
            <a:r>
              <a:rPr lang="zh-CN" altLang="en-US" sz="2400" dirty="0">
                <a:solidFill>
                  <a:schemeClr val="tx1"/>
                </a:solidFill>
              </a:rPr>
              <a:t>，在不同电压段输出的误差值不同，需要找出规律并修改代码校准误差在±</a:t>
            </a:r>
            <a:r>
              <a:rPr lang="en-US" altLang="zh-CN" sz="2400" dirty="0">
                <a:solidFill>
                  <a:schemeClr val="tx1"/>
                </a:solidFill>
              </a:rPr>
              <a:t>0.03V</a:t>
            </a:r>
            <a:r>
              <a:rPr lang="zh-CN" altLang="en-US" sz="2400" dirty="0">
                <a:solidFill>
                  <a:schemeClr val="tx1"/>
                </a:solidFill>
              </a:rPr>
              <a:t>以内，本文档就是介绍这个校准的过程。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2905" y="2480945"/>
            <a:ext cx="5092700" cy="381952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1665"/>
            <a:chOff x="0" y="155973"/>
            <a:chExt cx="2477691" cy="345454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5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462280" y="487045"/>
            <a:ext cx="10683875" cy="155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09600" lvl="1"/>
            <a:r>
              <a:rPr lang="zh-CN" altLang="en-US" sz="2400" dirty="0">
                <a:solidFill>
                  <a:schemeClr val="tx1"/>
                </a:solidFill>
              </a:rPr>
              <a:t>二、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验证功能</a:t>
            </a:r>
            <a:r>
              <a:rPr lang="en-GB" altLang="zh-CN" sz="24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内容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数据）</a:t>
            </a:r>
            <a:r>
              <a:rPr lang="zh-CN" altLang="en-US" sz="2400" dirty="0">
                <a:solidFill>
                  <a:schemeClr val="tx1"/>
                </a:solidFill>
              </a:rPr>
              <a:t>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1066800" lvl="2" indent="457200"/>
            <a:r>
              <a:rPr lang="zh-CN" sz="1400" dirty="0">
                <a:solidFill>
                  <a:schemeClr val="tx1"/>
                </a:solidFill>
              </a:rPr>
              <a:t>测量</a:t>
            </a:r>
            <a:r>
              <a:rPr lang="en-US" altLang="zh-CN" sz="1400" dirty="0">
                <a:solidFill>
                  <a:schemeClr val="tx1"/>
                </a:solidFill>
              </a:rPr>
              <a:t>C4-1 PCB </a:t>
            </a:r>
            <a:r>
              <a:rPr lang="zh-CN" altLang="en-US" sz="1400" dirty="0">
                <a:solidFill>
                  <a:schemeClr val="tx1"/>
                </a:solidFill>
              </a:rPr>
              <a:t>板输出的</a:t>
            </a:r>
            <a:r>
              <a:rPr lang="en-US" altLang="zh-CN" sz="1400" dirty="0">
                <a:solidFill>
                  <a:schemeClr val="tx1"/>
                </a:solidFill>
              </a:rPr>
              <a:t>4</a:t>
            </a:r>
            <a:r>
              <a:rPr lang="zh-CN" altLang="en-US" sz="1400" dirty="0">
                <a:solidFill>
                  <a:schemeClr val="tx1"/>
                </a:solidFill>
              </a:rPr>
              <a:t>个电压</a:t>
            </a:r>
            <a:r>
              <a:rPr lang="en-US" altLang="zh-CN" sz="1400" dirty="0">
                <a:solidFill>
                  <a:schemeClr val="tx1"/>
                </a:solidFill>
              </a:rPr>
              <a:t>X+ X- Y+ Y- </a:t>
            </a:r>
            <a:r>
              <a:rPr lang="zh-CN" altLang="en-US" sz="1400" dirty="0">
                <a:solidFill>
                  <a:schemeClr val="tx1"/>
                </a:solidFill>
              </a:rPr>
              <a:t>，统计未校准时</a:t>
            </a:r>
            <a:r>
              <a:rPr lang="en-US" altLang="zh-CN" sz="1400" dirty="0">
                <a:solidFill>
                  <a:schemeClr val="tx1"/>
                </a:solidFill>
              </a:rPr>
              <a:t>1~58V</a:t>
            </a:r>
            <a:r>
              <a:rPr lang="zh-CN" altLang="en-US" sz="1400" dirty="0">
                <a:solidFill>
                  <a:schemeClr val="tx1"/>
                </a:solidFill>
              </a:rPr>
              <a:t>（单位</a:t>
            </a:r>
            <a:r>
              <a:rPr lang="en-US" altLang="zh-CN" sz="1400" dirty="0">
                <a:solidFill>
                  <a:schemeClr val="tx1"/>
                </a:solidFill>
              </a:rPr>
              <a:t>1V</a:t>
            </a:r>
            <a:r>
              <a:rPr lang="zh-CN" altLang="en-US" sz="1400" dirty="0">
                <a:solidFill>
                  <a:schemeClr val="tx1"/>
                </a:solidFill>
              </a:rPr>
              <a:t>）电压值，可以发现误差在±</a:t>
            </a:r>
            <a:r>
              <a:rPr lang="en-US" altLang="zh-CN" sz="1400" dirty="0">
                <a:solidFill>
                  <a:schemeClr val="tx1"/>
                </a:solidFill>
              </a:rPr>
              <a:t>0.07v</a:t>
            </a:r>
            <a:r>
              <a:rPr lang="zh-CN" altLang="en-US" sz="1400" dirty="0">
                <a:solidFill>
                  <a:schemeClr val="tx1"/>
                </a:solidFill>
              </a:rPr>
              <a:t>以内，且误差不是线性的。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graphicFrame>
        <p:nvGraphicFramePr>
          <p:cNvPr id="4" name="图表 3"/>
          <p:cNvGraphicFramePr/>
          <p:nvPr/>
        </p:nvGraphicFramePr>
        <p:xfrm>
          <a:off x="603250" y="1663065"/>
          <a:ext cx="4762500" cy="253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5563235" y="1663065"/>
          <a:ext cx="4826000" cy="2535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图表 6"/>
          <p:cNvGraphicFramePr/>
          <p:nvPr/>
        </p:nvGraphicFramePr>
        <p:xfrm>
          <a:off x="603250" y="4342130"/>
          <a:ext cx="4762500" cy="2515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图表 7"/>
          <p:cNvGraphicFramePr/>
          <p:nvPr/>
        </p:nvGraphicFramePr>
        <p:xfrm>
          <a:off x="5563235" y="4342130"/>
          <a:ext cx="4826000" cy="2515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1665"/>
            <a:chOff x="0" y="155973"/>
            <a:chExt cx="2477691" cy="345454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5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462280" y="487045"/>
            <a:ext cx="10683875" cy="155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09600" lvl="1"/>
            <a:r>
              <a:rPr lang="zh-CN" altLang="en-US" sz="2400" dirty="0">
                <a:solidFill>
                  <a:schemeClr val="tx1"/>
                </a:solidFill>
              </a:rPr>
              <a:t>三、校准流程：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1066800" lvl="2" indent="457200"/>
            <a:r>
              <a:rPr lang="zh-CN" sz="1400" dirty="0">
                <a:solidFill>
                  <a:schemeClr val="tx1"/>
                </a:solidFill>
              </a:rPr>
              <a:t>由于</a:t>
            </a:r>
            <a:r>
              <a:rPr lang="zh-CN" altLang="en-US" sz="1400" dirty="0">
                <a:solidFill>
                  <a:schemeClr val="tx1"/>
                </a:solidFill>
              </a:rPr>
              <a:t>误差在±</a:t>
            </a:r>
            <a:r>
              <a:rPr lang="en-US" altLang="zh-CN" sz="1400" dirty="0">
                <a:solidFill>
                  <a:schemeClr val="tx1"/>
                </a:solidFill>
              </a:rPr>
              <a:t>0.07v</a:t>
            </a:r>
            <a:r>
              <a:rPr lang="zh-CN" altLang="en-US" sz="1400" dirty="0">
                <a:solidFill>
                  <a:schemeClr val="tx1"/>
                </a:solidFill>
              </a:rPr>
              <a:t>以内，且不是线性的，所以必须用分段插值校准算法，建议将校准段分为</a:t>
            </a:r>
            <a:r>
              <a:rPr lang="en-US" altLang="zh-CN" sz="1400" dirty="0">
                <a:solidFill>
                  <a:schemeClr val="tx1"/>
                </a:solidFill>
              </a:rPr>
              <a:t>1-10-20-30-40-50-58</a:t>
            </a:r>
            <a:r>
              <a:rPr lang="zh-CN" altLang="en-US" sz="1400" dirty="0">
                <a:solidFill>
                  <a:schemeClr val="tx1"/>
                </a:solidFill>
              </a:rPr>
              <a:t>。校准流程是如下：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238250" y="1990090"/>
            <a:ext cx="51174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 ofs wl 1 10  </a:t>
            </a:r>
            <a:r>
              <a:rPr lang="zh-CN" altLang="en-US"/>
              <a:t>设置要校准电压值</a:t>
            </a:r>
            <a:endParaRPr lang="zh-CN" altLang="en-US"/>
          </a:p>
          <a:p>
            <a:r>
              <a:rPr lang="en-US" altLang="zh-CN"/>
              <a:t>2.  ofs od 1 10  </a:t>
            </a:r>
            <a:r>
              <a:rPr lang="zh-CN" altLang="en-US"/>
              <a:t>设置未校准电压值</a:t>
            </a:r>
            <a:endParaRPr lang="zh-CN" altLang="en-US"/>
          </a:p>
          <a:p>
            <a:r>
              <a:rPr lang="en-US" altLang="zh-CN"/>
              <a:t>3.  </a:t>
            </a:r>
            <a:r>
              <a:rPr lang="zh-CN" altLang="en-US"/>
              <a:t>读取电压表数值，如</a:t>
            </a:r>
            <a:r>
              <a:rPr lang="en-US" altLang="zh-CN"/>
              <a:t>10.020v</a:t>
            </a:r>
            <a:endParaRPr lang="en-US" altLang="zh-CN"/>
          </a:p>
          <a:p>
            <a:r>
              <a:rPr lang="en-US" altLang="zh-CN"/>
              <a:t>4.  ofs cb 1 10 10.020  </a:t>
            </a:r>
            <a:r>
              <a:rPr lang="zh-CN" altLang="en-US"/>
              <a:t>开始校准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上面流程跑完就设置好了</a:t>
            </a:r>
            <a:r>
              <a:rPr lang="en-US" altLang="zh-CN"/>
              <a:t>X+</a:t>
            </a:r>
            <a:r>
              <a:rPr lang="zh-CN" altLang="en-US"/>
              <a:t>的</a:t>
            </a:r>
            <a:r>
              <a:rPr lang="en-US" altLang="zh-CN"/>
              <a:t>10V</a:t>
            </a:r>
            <a:r>
              <a:rPr lang="zh-CN" altLang="en-US"/>
              <a:t>段校准系数，照此流程分别设置</a:t>
            </a:r>
            <a:r>
              <a:rPr lang="en-US" altLang="zh-CN" dirty="0">
                <a:sym typeface="+mn-ea"/>
              </a:rPr>
              <a:t>1-10-20-30-40-50-58</a:t>
            </a:r>
            <a:r>
              <a:rPr lang="zh-CN" altLang="en-US" dirty="0">
                <a:sym typeface="+mn-ea"/>
              </a:rPr>
              <a:t>段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1665"/>
            <a:chOff x="0" y="155973"/>
            <a:chExt cx="2477691" cy="345454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5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462280" y="487045"/>
            <a:ext cx="10683875" cy="155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09600" lvl="1"/>
            <a:r>
              <a:rPr lang="zh-CN" altLang="en-US" sz="2400" dirty="0">
                <a:solidFill>
                  <a:schemeClr val="tx1"/>
                </a:solidFill>
              </a:rPr>
              <a:t>四、校准算法：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1066800" lvl="2" indent="457200"/>
            <a:r>
              <a:rPr lang="zh-CN" sz="1400" dirty="0">
                <a:solidFill>
                  <a:schemeClr val="tx1"/>
                </a:solidFill>
              </a:rPr>
              <a:t>通过特定流程将校准系数写入</a:t>
            </a:r>
            <a:r>
              <a:rPr lang="en-US" altLang="zh-CN" sz="1400" dirty="0">
                <a:solidFill>
                  <a:schemeClr val="tx1"/>
                </a:solidFill>
              </a:rPr>
              <a:t>flash</a:t>
            </a:r>
            <a:r>
              <a:rPr lang="zh-CN" altLang="en-US" sz="1400" dirty="0">
                <a:solidFill>
                  <a:schemeClr val="tx1"/>
                </a:solidFill>
              </a:rPr>
              <a:t>，得到一张校准系数表，典型校准系数如：在</a:t>
            </a:r>
            <a:r>
              <a:rPr lang="en-US" altLang="zh-CN" sz="1400" dirty="0">
                <a:solidFill>
                  <a:schemeClr val="tx1"/>
                </a:solidFill>
              </a:rPr>
              <a:t>10v</a:t>
            </a:r>
            <a:r>
              <a:rPr lang="zh-CN" altLang="en-US" sz="1400" dirty="0">
                <a:solidFill>
                  <a:schemeClr val="tx1"/>
                </a:solidFill>
              </a:rPr>
              <a:t>段误差</a:t>
            </a:r>
            <a:r>
              <a:rPr lang="en-US" altLang="zh-CN" sz="1400" dirty="0">
                <a:solidFill>
                  <a:schemeClr val="tx1"/>
                </a:solidFill>
              </a:rPr>
              <a:t>0.020v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</a:rPr>
              <a:t>x1000</a:t>
            </a:r>
            <a:r>
              <a:rPr lang="zh-CN" altLang="en-US" sz="1400" dirty="0">
                <a:solidFill>
                  <a:schemeClr val="tx1"/>
                </a:solidFill>
              </a:rPr>
              <a:t>保存为</a:t>
            </a:r>
            <a:r>
              <a:rPr lang="en-US" altLang="zh-CN" sz="1400" dirty="0">
                <a:solidFill>
                  <a:schemeClr val="tx1"/>
                </a:solidFill>
              </a:rPr>
              <a:t>20.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066800" lvl="2" indent="457200"/>
            <a:r>
              <a:rPr lang="zh-CN" altLang="en-US" sz="1400" dirty="0">
                <a:solidFill>
                  <a:schemeClr val="tx1"/>
                </a:solidFill>
              </a:rPr>
              <a:t>采用分段插值校准算法，例如设置电压</a:t>
            </a:r>
            <a:r>
              <a:rPr lang="en-US" altLang="zh-CN" sz="1400" dirty="0">
                <a:solidFill>
                  <a:schemeClr val="tx1"/>
                </a:solidFill>
              </a:rPr>
              <a:t>13v</a:t>
            </a:r>
            <a:r>
              <a:rPr lang="zh-CN" altLang="en-US" sz="1400" dirty="0">
                <a:solidFill>
                  <a:schemeClr val="tx1"/>
                </a:solidFill>
              </a:rPr>
              <a:t>，找到</a:t>
            </a:r>
            <a:r>
              <a:rPr lang="en-US" altLang="zh-CN" sz="1400" dirty="0">
                <a:solidFill>
                  <a:schemeClr val="tx1"/>
                </a:solidFill>
              </a:rPr>
              <a:t>13v</a:t>
            </a:r>
            <a:r>
              <a:rPr lang="zh-CN" altLang="en-US" sz="1400" dirty="0">
                <a:solidFill>
                  <a:schemeClr val="tx1"/>
                </a:solidFill>
              </a:rPr>
              <a:t>上下的校准段，插值计算</a:t>
            </a:r>
            <a:r>
              <a:rPr lang="en-US" altLang="zh-CN" sz="1400" dirty="0">
                <a:solidFill>
                  <a:schemeClr val="tx1"/>
                </a:solidFill>
              </a:rPr>
              <a:t>13v</a:t>
            </a:r>
            <a:r>
              <a:rPr lang="zh-CN" altLang="en-US" sz="1400" dirty="0">
                <a:solidFill>
                  <a:schemeClr val="tx1"/>
                </a:solidFill>
              </a:rPr>
              <a:t>的校准系数</a:t>
            </a:r>
            <a:r>
              <a:rPr lang="en-US" altLang="zh-CN" sz="1400" dirty="0">
                <a:solidFill>
                  <a:schemeClr val="tx1"/>
                </a:solidFill>
              </a:rPr>
              <a:t>23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marL="1066800" lvl="2" indent="457200"/>
            <a:r>
              <a:rPr lang="zh-CN" altLang="en-US" sz="1400" dirty="0">
                <a:solidFill>
                  <a:schemeClr val="tx1"/>
                </a:solidFill>
              </a:rPr>
              <a:t>得到校准后电压</a:t>
            </a:r>
            <a:r>
              <a:rPr lang="en-US" altLang="zh-CN" sz="1400" dirty="0">
                <a:solidFill>
                  <a:schemeClr val="tx1"/>
                </a:solidFill>
              </a:rPr>
              <a:t> = </a:t>
            </a:r>
            <a:r>
              <a:rPr lang="zh-CN" altLang="en-US" sz="1400" dirty="0">
                <a:solidFill>
                  <a:schemeClr val="tx1"/>
                </a:solidFill>
              </a:rPr>
              <a:t>（</a:t>
            </a:r>
            <a:r>
              <a:rPr lang="en-US" altLang="zh-CN" sz="1400" dirty="0">
                <a:solidFill>
                  <a:schemeClr val="tx1"/>
                </a:solidFill>
              </a:rPr>
              <a:t>13 - 23/1000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  <a:r>
              <a:rPr lang="en-US" altLang="zh-CN" sz="1400" dirty="0">
                <a:solidFill>
                  <a:schemeClr val="tx1"/>
                </a:solidFill>
              </a:rPr>
              <a:t>= 12.977</a:t>
            </a:r>
            <a:r>
              <a:rPr lang="zh-CN" altLang="en-US" sz="1400" dirty="0">
                <a:solidFill>
                  <a:schemeClr val="tx1"/>
                </a:solidFill>
              </a:rPr>
              <a:t>，将该值写入</a:t>
            </a:r>
            <a:r>
              <a:rPr lang="en-US" altLang="zh-CN" sz="1400" dirty="0">
                <a:solidFill>
                  <a:schemeClr val="tx1"/>
                </a:solidFill>
              </a:rPr>
              <a:t>DAC</a:t>
            </a:r>
            <a:r>
              <a:rPr lang="zh-CN" altLang="en-US" sz="1400" dirty="0">
                <a:solidFill>
                  <a:schemeClr val="tx1"/>
                </a:solidFill>
              </a:rPr>
              <a:t>就会得到相对精准的输出。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238250" y="1990090"/>
            <a:ext cx="511746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   </a:t>
            </a:r>
            <a:r>
              <a:rPr lang="en-US"/>
              <a:t>12</a:t>
            </a:r>
            <a:endParaRPr lang="zh-CN" altLang="en-US"/>
          </a:p>
          <a:p>
            <a:r>
              <a:rPr lang="en-US" altLang="zh-CN"/>
              <a:t>10.  </a:t>
            </a:r>
            <a:r>
              <a:rPr lang="en-US"/>
              <a:t>20</a:t>
            </a:r>
            <a:endParaRPr lang="en-US"/>
          </a:p>
          <a:p>
            <a:r>
              <a:rPr lang="en-US" altLang="zh-CN"/>
              <a:t>20.  </a:t>
            </a:r>
            <a:r>
              <a:rPr lang="en-US"/>
              <a:t>30</a:t>
            </a:r>
            <a:endParaRPr lang="en-US" altLang="zh-CN"/>
          </a:p>
          <a:p>
            <a:r>
              <a:rPr lang="en-US" altLang="zh-CN"/>
              <a:t>30.  </a:t>
            </a:r>
            <a:r>
              <a:rPr lang="en-US"/>
              <a:t>30</a:t>
            </a:r>
            <a:endParaRPr lang="en-US"/>
          </a:p>
          <a:p>
            <a:r>
              <a:rPr lang="en-US"/>
              <a:t>40.  40</a:t>
            </a:r>
            <a:endParaRPr lang="en-US"/>
          </a:p>
          <a:p>
            <a:r>
              <a:rPr lang="en-US"/>
              <a:t>50.  30</a:t>
            </a:r>
            <a:endParaRPr lang="en-US"/>
          </a:p>
          <a:p>
            <a:r>
              <a:rPr lang="en-US"/>
              <a:t>58.  40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以上是</a:t>
            </a:r>
            <a:r>
              <a:rPr lang="en-US" altLang="zh-CN"/>
              <a:t>X+</a:t>
            </a:r>
            <a:r>
              <a:rPr lang="zh-CN" altLang="en-US"/>
              <a:t>的校准系数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918200" y="2204720"/>
            <a:ext cx="49644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校准系数计算公式：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k</a:t>
            </a:r>
            <a:r>
              <a:rPr lang="zh-CN" altLang="en-US"/>
              <a:t>插值 = </a:t>
            </a:r>
            <a:r>
              <a:rPr lang="en-US" altLang="zh-CN"/>
              <a:t>k</a:t>
            </a:r>
            <a:r>
              <a:rPr lang="zh-CN" altLang="en-US"/>
              <a:t>左 + (</a:t>
            </a:r>
            <a:r>
              <a:rPr lang="en-US" altLang="zh-CN"/>
              <a:t>k</a:t>
            </a:r>
            <a:r>
              <a:rPr lang="zh-CN" altLang="en-US"/>
              <a:t>右 - </a:t>
            </a:r>
            <a:r>
              <a:rPr lang="en-US" altLang="zh-CN"/>
              <a:t>k</a:t>
            </a:r>
            <a:r>
              <a:rPr lang="zh-CN" altLang="en-US"/>
              <a:t>左) × (</a:t>
            </a:r>
            <a:r>
              <a:rPr lang="en-US" altLang="zh-CN"/>
              <a:t>V - V</a:t>
            </a:r>
            <a:r>
              <a:rPr lang="zh-CN" altLang="en-US"/>
              <a:t>左) / (</a:t>
            </a:r>
            <a:r>
              <a:rPr lang="en-US" altLang="zh-CN"/>
              <a:t>V</a:t>
            </a:r>
            <a:r>
              <a:rPr lang="zh-CN" altLang="en-US"/>
              <a:t>右 - </a:t>
            </a:r>
            <a:r>
              <a:rPr lang="en-US" altLang="zh-CN"/>
              <a:t>V</a:t>
            </a:r>
            <a:r>
              <a:rPr lang="zh-CN" altLang="en-US"/>
              <a:t>左)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23 = 20 + </a:t>
            </a:r>
            <a:r>
              <a:rPr lang="zh-CN" altLang="en-US"/>
              <a:t>（</a:t>
            </a:r>
            <a:r>
              <a:rPr lang="en-US" altLang="zh-CN"/>
              <a:t>30 - 20</a:t>
            </a:r>
            <a:r>
              <a:rPr lang="zh-CN" altLang="en-US"/>
              <a:t>）</a:t>
            </a:r>
            <a:r>
              <a:rPr lang="en-US" altLang="zh-CN"/>
              <a:t>x </a:t>
            </a:r>
            <a:r>
              <a:rPr lang="zh-CN" altLang="en-US"/>
              <a:t>（</a:t>
            </a:r>
            <a:r>
              <a:rPr lang="en-US" altLang="zh-CN"/>
              <a:t>13 - 10</a:t>
            </a:r>
            <a:r>
              <a:rPr lang="zh-CN" altLang="en-US"/>
              <a:t>）</a:t>
            </a:r>
            <a:r>
              <a:rPr lang="en-US" altLang="zh-CN"/>
              <a:t>/</a:t>
            </a:r>
            <a:r>
              <a:rPr lang="zh-CN" altLang="en-US"/>
              <a:t>（</a:t>
            </a:r>
            <a:r>
              <a:rPr lang="en-US" altLang="zh-CN"/>
              <a:t>30 - 20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1665"/>
            <a:chOff x="0" y="155973"/>
            <a:chExt cx="2477691" cy="345454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5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462280" y="487045"/>
            <a:ext cx="10683875" cy="155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09600" lvl="1"/>
            <a:r>
              <a:rPr lang="zh-CN" altLang="en-US" sz="2400" dirty="0">
                <a:solidFill>
                  <a:schemeClr val="tx1"/>
                </a:solidFill>
              </a:rPr>
              <a:t>五、校准结果：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1066800" lvl="2" indent="457200"/>
            <a:r>
              <a:rPr lang="zh-CN" sz="1400" dirty="0">
                <a:solidFill>
                  <a:schemeClr val="tx1"/>
                </a:solidFill>
              </a:rPr>
              <a:t>以典型的</a:t>
            </a:r>
            <a:r>
              <a:rPr lang="en-US" altLang="zh-CN" sz="1400" dirty="0">
                <a:solidFill>
                  <a:schemeClr val="tx1"/>
                </a:solidFill>
              </a:rPr>
              <a:t>X-</a:t>
            </a:r>
            <a:r>
              <a:rPr lang="zh-CN" altLang="en-US" sz="1400" dirty="0">
                <a:solidFill>
                  <a:schemeClr val="tx1"/>
                </a:solidFill>
              </a:rPr>
              <a:t>通道为例，设置好校准系数后，实测每一个电压，统计误差值，校准后误差在±</a:t>
            </a:r>
            <a:r>
              <a:rPr lang="en-US" altLang="zh-CN" sz="1400" dirty="0">
                <a:solidFill>
                  <a:schemeClr val="tx1"/>
                </a:solidFill>
              </a:rPr>
              <a:t>0.01v</a:t>
            </a:r>
            <a:r>
              <a:rPr lang="zh-CN" altLang="en-US" sz="1400" dirty="0">
                <a:solidFill>
                  <a:schemeClr val="tx1"/>
                </a:solidFill>
              </a:rPr>
              <a:t>以内。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graphicFrame>
        <p:nvGraphicFramePr>
          <p:cNvPr id="3" name="图表 2"/>
          <p:cNvGraphicFramePr/>
          <p:nvPr/>
        </p:nvGraphicFramePr>
        <p:xfrm>
          <a:off x="3683000" y="2057400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14" name="文本框 4"/>
          <p:cNvSpPr txBox="1">
            <a:spLocks noChangeArrowheads="1"/>
          </p:cNvSpPr>
          <p:nvPr/>
        </p:nvSpPr>
        <p:spPr bwMode="auto">
          <a:xfrm>
            <a:off x="2491318" y="2468920"/>
            <a:ext cx="68199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 b="1" dirty="0">
                <a:solidFill>
                  <a:schemeClr val="bg1"/>
                </a:solidFill>
              </a:rPr>
              <a:t>THE END</a:t>
            </a:r>
            <a:endParaRPr lang="en-US" altLang="zh-CN" sz="4000" b="1" dirty="0">
              <a:solidFill>
                <a:schemeClr val="bg1"/>
              </a:solidFill>
            </a:endParaRPr>
          </a:p>
          <a:p>
            <a:pPr algn="ctr" eaLnBrk="1" hangingPunct="1"/>
            <a:endParaRPr lang="en-US" altLang="zh-CN" sz="4000" b="1" dirty="0">
              <a:solidFill>
                <a:schemeClr val="bg1"/>
              </a:solidFill>
            </a:endParaRPr>
          </a:p>
          <a:p>
            <a:pPr algn="ctr" eaLnBrk="1" hangingPunct="1"/>
            <a:r>
              <a:rPr lang="en-US" altLang="zh-CN" sz="4000" b="1" dirty="0">
                <a:solidFill>
                  <a:schemeClr val="bg1"/>
                </a:solidFill>
              </a:rPr>
              <a:t>THANK YOU</a:t>
            </a:r>
            <a:endParaRPr lang="en-US" altLang="zh-CN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</Words>
  <Application>WPS 演示</Application>
  <PresentationFormat>宽屏</PresentationFormat>
  <Paragraphs>93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等线 Light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zhibo ye</dc:creator>
  <cp:lastModifiedBy>焕爷</cp:lastModifiedBy>
  <cp:revision>395</cp:revision>
  <dcterms:created xsi:type="dcterms:W3CDTF">2022-01-21T03:43:00Z</dcterms:created>
  <dcterms:modified xsi:type="dcterms:W3CDTF">2026-06-27T04:50:03Z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E262A56F8B1442DFA542EF5EADC445CA</vt:lpwstr>
  </property>
  <property fmtid="{D5CDD505-2E9C-101B-9397-08002B2CF9AE}" pid="3" name="KSOProductBuildVer">
    <vt:lpwstr>2052-12.1.0.26895</vt:lpwstr>
  </property>
</Properties>
</file>